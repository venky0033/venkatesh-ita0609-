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71" r:id="rId10"/>
    <p:sldId id="267" r:id="rId11"/>
    <p:sldId id="270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>
      <p:cViewPr varScale="1">
        <p:scale>
          <a:sx n="90" d="100"/>
          <a:sy n="90" d="100"/>
        </p:scale>
        <p:origin x="62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 Reddy" userId="19b04b2d34e5bbbe" providerId="LiveId" clId="{54C1FF0F-3215-4AEE-9BB5-764A3320CAD3}"/>
    <pc:docChg chg="custSel modSld">
      <pc:chgData name="Venkatesh Reddy" userId="19b04b2d34e5bbbe" providerId="LiveId" clId="{54C1FF0F-3215-4AEE-9BB5-764A3320CAD3}" dt="2026-07-31T07:14:46.402" v="6" actId="14100"/>
      <pc:docMkLst>
        <pc:docMk/>
      </pc:docMkLst>
      <pc:sldChg chg="addSp delSp modSp mod">
        <pc:chgData name="Venkatesh Reddy" userId="19b04b2d34e5bbbe" providerId="LiveId" clId="{54C1FF0F-3215-4AEE-9BB5-764A3320CAD3}" dt="2026-07-31T07:14:46.402" v="6" actId="14100"/>
        <pc:sldMkLst>
          <pc:docMk/>
          <pc:sldMk cId="0" sldId="270"/>
        </pc:sldMkLst>
        <pc:picChg chg="add mod">
          <ac:chgData name="Venkatesh Reddy" userId="19b04b2d34e5bbbe" providerId="LiveId" clId="{54C1FF0F-3215-4AEE-9BB5-764A3320CAD3}" dt="2026-07-31T07:14:46.402" v="6" actId="14100"/>
          <ac:picMkLst>
            <pc:docMk/>
            <pc:sldMk cId="0" sldId="270"/>
            <ac:picMk id="2" creationId="{111503C2-7DC7-90E0-FD41-4E269FD8F15C}"/>
          </ac:picMkLst>
        </pc:picChg>
        <pc:picChg chg="del">
          <ac:chgData name="Venkatesh Reddy" userId="19b04b2d34e5bbbe" providerId="LiveId" clId="{54C1FF0F-3215-4AEE-9BB5-764A3320CAD3}" dt="2026-07-31T07:14:31.591" v="2" actId="478"/>
          <ac:picMkLst>
            <pc:docMk/>
            <pc:sldMk cId="0" sldId="270"/>
            <ac:picMk id="6" creationId="{B3FA473F-3C8A-A1D3-57B3-15F25B48F8D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D0D8C-A8B9-4C87-BD42-F336E010BEA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E90C9-38F9-4612-A8AD-CFAD35B47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08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38197" y="-63550"/>
            <a:ext cx="7394701" cy="1213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0674" y="1920366"/>
            <a:ext cx="11021060" cy="4690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106" y="412800"/>
            <a:ext cx="10595864" cy="10390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1944444"/>
            <a:ext cx="115062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Machine Learning-Based Smart Irrigation Control Using Weather and Soil Analytics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4311808" y="3213516"/>
            <a:ext cx="3568383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Times New Roman"/>
                <a:cs typeface="Times New Roman"/>
              </a:rPr>
              <a:t>ITA 0609-Machine Learning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388" y="4137492"/>
            <a:ext cx="3317812" cy="13439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Under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Guidance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of</a:t>
            </a:r>
            <a:r>
              <a:rPr lang="en-US" sz="2400" b="1" spc="-25" dirty="0">
                <a:latin typeface="Times New Roman"/>
                <a:cs typeface="Times New Roman"/>
              </a:rPr>
              <a:t> :</a:t>
            </a:r>
          </a:p>
          <a:p>
            <a:pPr marL="12700">
              <a:spcBef>
                <a:spcPts val="100"/>
              </a:spcBef>
            </a:pPr>
            <a:endParaRPr lang="en-IN" b="1" spc="-50" dirty="0"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r>
              <a:rPr lang="en-IN" b="1" spc="-40" dirty="0">
                <a:latin typeface="Times New Roman"/>
                <a:cs typeface="Times New Roman"/>
              </a:rPr>
              <a:t>Dr. Shri Vindhya</a:t>
            </a:r>
            <a:endParaRPr lang="en-IN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5339A-CEA0-D3E6-97A8-3DB8B9416072}"/>
              </a:ext>
            </a:extLst>
          </p:cNvPr>
          <p:cNvSpPr txBox="1"/>
          <p:nvPr/>
        </p:nvSpPr>
        <p:spPr>
          <a:xfrm>
            <a:off x="8458200" y="4267200"/>
            <a:ext cx="3317812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lang="en-US" sz="1800" b="1" dirty="0">
                <a:latin typeface="Times New Roman"/>
                <a:cs typeface="Times New Roman"/>
              </a:rPr>
              <a:t>Presented</a:t>
            </a:r>
            <a:r>
              <a:rPr lang="en-US" sz="1800" b="1" spc="-5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By</a:t>
            </a:r>
            <a:r>
              <a:rPr lang="en-US" sz="1800" b="1" spc="-50" dirty="0">
                <a:latin typeface="Times New Roman"/>
                <a:cs typeface="Times New Roman"/>
              </a:rPr>
              <a:t> :</a:t>
            </a:r>
            <a:endParaRPr lang="en-US" sz="18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lang="en-US" sz="1800" b="1" dirty="0">
                <a:latin typeface="Times New Roman"/>
                <a:cs typeface="Times New Roman"/>
              </a:rPr>
              <a:t>S. Venkatesh (192312109)</a:t>
            </a: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lang="en-US" b="1" dirty="0" err="1">
                <a:latin typeface="Times New Roman"/>
                <a:cs typeface="Times New Roman"/>
              </a:rPr>
              <a:t>V.Siddardha</a:t>
            </a:r>
            <a:r>
              <a:rPr lang="en-US" b="1" dirty="0">
                <a:latin typeface="Times New Roman"/>
                <a:cs typeface="Times New Roman"/>
              </a:rPr>
              <a:t>(192312075)</a:t>
            </a: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lang="en-US" sz="1600" b="1" dirty="0">
                <a:latin typeface="Times New Roman"/>
                <a:cs typeface="Times New Roman"/>
              </a:rPr>
              <a:t>Y.S Anil Prasad(19232035)</a:t>
            </a:r>
            <a:endParaRPr lang="en-US" sz="1600" dirty="0">
              <a:latin typeface="Times New Roman"/>
              <a:cs typeface="Times New Roman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4726" y="647191"/>
            <a:ext cx="3060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Introduction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136" y="421894"/>
            <a:ext cx="919162" cy="914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7796" y="450469"/>
            <a:ext cx="698373" cy="8858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A30310-E192-5F0B-98AB-6E4141C94719}"/>
              </a:ext>
            </a:extLst>
          </p:cNvPr>
          <p:cNvSpPr txBox="1"/>
          <p:nvPr/>
        </p:nvSpPr>
        <p:spPr>
          <a:xfrm>
            <a:off x="407136" y="1524000"/>
            <a:ext cx="6527064" cy="511531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depends on efficient irrigation for healthy crop growth and better productivity.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irrigation methods often waste water because they do not consider weather and soil conditions.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enables intelligent irrigation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weather and soil data to predict water requirements.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project develops a predictive model that recommends whether irrigation is needed.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helps conserve water, improve irrigation efficiency, and support sustainable farming practices.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9EBF22-E072-B34A-98E8-99320196E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6834" y="1752600"/>
            <a:ext cx="4838030" cy="48867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4292" y="0"/>
            <a:ext cx="7394701" cy="938514"/>
          </a:xfrm>
          <a:prstGeom prst="rect">
            <a:avLst/>
          </a:prstGeom>
        </p:spPr>
        <p:txBody>
          <a:bodyPr vert="horz" wrap="square" lIns="0" tIns="258877" rIns="0" bIns="0" rtlCol="0">
            <a:spAutoFit/>
          </a:bodyPr>
          <a:lstStyle/>
          <a:p>
            <a:pPr marL="2118360" algn="ctr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Problem</a:t>
            </a:r>
            <a:r>
              <a:rPr sz="4400" spc="-90" dirty="0"/>
              <a:t> </a:t>
            </a:r>
            <a:r>
              <a:rPr sz="4400" spc="-10" dirty="0"/>
              <a:t>Statement</a:t>
            </a:r>
            <a:endParaRPr sz="440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9364" y="339725"/>
            <a:ext cx="698500" cy="8858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9A6E53-9136-9DAD-9DC8-546236FA03B6}"/>
              </a:ext>
            </a:extLst>
          </p:cNvPr>
          <p:cNvSpPr txBox="1"/>
          <p:nvPr/>
        </p:nvSpPr>
        <p:spPr>
          <a:xfrm>
            <a:off x="5832068" y="1282691"/>
            <a:ext cx="6096000" cy="557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irrigation methods do not consider changing weather and soil conditions.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irrigation leads to water wastage and higher operational costs.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irrigation negatively affects crop growth and yield.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irrigation planning is time-consuming and prone to errors.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Unpredictable weather makes irrigation scheduling difficult.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system is needed to predict irrigation requirements accurately.</a:t>
            </a:r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77233291-3050-5D94-A9FC-42EECCC769C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868" y="501141"/>
            <a:ext cx="919162" cy="914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DF93D5-8812-E525-2BCB-CCE1DE8C0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15541"/>
            <a:ext cx="5410200" cy="5061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7025" y="-44970"/>
            <a:ext cx="8751746" cy="1213154"/>
          </a:xfrm>
          <a:prstGeom prst="rect">
            <a:avLst/>
          </a:prstGeom>
        </p:spPr>
        <p:txBody>
          <a:bodyPr vert="horz" wrap="square" lIns="0" tIns="529894" rIns="0" bIns="0" rtlCol="0">
            <a:spAutoFit/>
          </a:bodyPr>
          <a:lstStyle/>
          <a:p>
            <a:pPr marL="2279015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Objectives</a:t>
            </a:r>
            <a:r>
              <a:rPr lang="en-US" sz="4400" spc="-10" dirty="0"/>
              <a:t> &amp; Scope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883" y="439547"/>
            <a:ext cx="919162" cy="914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5102" y="442722"/>
            <a:ext cx="698500" cy="8858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9600" y="1524000"/>
            <a:ext cx="7543800" cy="4574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to predict irrigation requirements.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weather and soil parameters affecting irrigation.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irrigation efficiency through accurate predictions.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unnecessary water consumption.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sustainable and precision farming practices.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to agricultural fields, gardens, and greenhouses.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irrigation planning using historical and environmental data.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with IoT devices and mobile applications.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different crop types and farming environments.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95128" y="1981200"/>
            <a:ext cx="4120672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8197" y="-63550"/>
            <a:ext cx="7394701" cy="1087221"/>
          </a:xfrm>
          <a:prstGeom prst="rect">
            <a:avLst/>
          </a:prstGeom>
        </p:spPr>
        <p:txBody>
          <a:bodyPr vert="horz" wrap="square" lIns="0" tIns="467106" rIns="0" bIns="0" rtlCol="0">
            <a:spAutoFit/>
          </a:bodyPr>
          <a:lstStyle/>
          <a:p>
            <a:pPr marL="1438275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Methodology</a:t>
            </a:r>
            <a:endParaRPr sz="4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9833" y="463295"/>
            <a:ext cx="700671" cy="8858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868" y="501141"/>
            <a:ext cx="919162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C0630C-4B8E-FCC0-C18D-4EF8470A4B06}"/>
              </a:ext>
            </a:extLst>
          </p:cNvPr>
          <p:cNvSpPr txBox="1"/>
          <p:nvPr/>
        </p:nvSpPr>
        <p:spPr>
          <a:xfrm>
            <a:off x="533400" y="1340457"/>
            <a:ext cx="5715000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agricultural datasets containing soil and weather information.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data by handling missing values and normalizing features.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relevant parameters such as soil moisture, temperature, humidity, and rainfall.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test Machine Learning algorithms such as Decision Tree and Random Forest.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accuracy and other classification metrics.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trained model to predict whether irrigation is required based on new input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3AED51-4EDB-D259-AEE9-1ED47A6AA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070" y="1600199"/>
            <a:ext cx="5600700" cy="4794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345155"/>
            <a:ext cx="91439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3600" dirty="0"/>
              <a:t>Data Collection and Preprocessing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736" y="133350"/>
            <a:ext cx="919162" cy="914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6176" y="133350"/>
            <a:ext cx="698500" cy="8858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7317" y="1600200"/>
            <a:ext cx="5109845" cy="4112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historical weather and soil datasets.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features such as temperature, humidity, rainfall, and soil moisture.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the dataset by removing missing and duplicate values.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and transform data for better model performance.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relevant features affecting irrigation.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training and testing data.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4623CE-9F64-EB9D-26D9-6072E6E81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24001"/>
            <a:ext cx="51435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3998" y="194908"/>
            <a:ext cx="7644003" cy="741279"/>
          </a:xfrm>
          <a:prstGeom prst="rect">
            <a:avLst/>
          </a:prstGeom>
        </p:spPr>
        <p:txBody>
          <a:bodyPr vert="horz" wrap="square" lIns="0" tIns="307390" rIns="0" bIns="0" rtlCol="0">
            <a:spAutoFit/>
          </a:bodyPr>
          <a:lstStyle/>
          <a:p>
            <a:r>
              <a:rPr lang="en-IN" sz="2800" dirty="0"/>
              <a:t>Module 2: Machine Learning Model 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676400"/>
            <a:ext cx="5410199" cy="4112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suitable Machine Learning algorithms.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the prepared dataset.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algorithms based on prediction performance.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 parameters for better accuracy.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using Accuracy, Precision, Recall, and F1-Score.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best-performing model for irrigation prediction.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C8C18FF5-9EB5-6FE0-A14F-86886B1DC6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9833" y="463295"/>
            <a:ext cx="700671" cy="885825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AB91A277-ADBE-E8C6-B383-3504C6F7B1A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883" y="439547"/>
            <a:ext cx="919162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237E73-7ED4-E1BA-EF4E-975D544E1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600200"/>
            <a:ext cx="5943601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2237" y="-10644"/>
            <a:ext cx="9607525" cy="1069062"/>
          </a:xfrm>
          <a:prstGeom prst="rect">
            <a:avLst/>
          </a:prstGeom>
        </p:spPr>
        <p:txBody>
          <a:bodyPr vert="horz" wrap="square" lIns="0" tIns="571043" rIns="0" bIns="0" rtlCol="0">
            <a:spAutoFit/>
          </a:bodyPr>
          <a:lstStyle/>
          <a:p>
            <a:r>
              <a:rPr lang="en-IN" sz="3200" dirty="0"/>
              <a:t>Module 3: Irrigation Prediction and Decision Support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278" y="144018"/>
            <a:ext cx="919149" cy="9144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4319" y="1752600"/>
            <a:ext cx="5978058" cy="4112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new weather and soil parameters as input.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whether irrigation is required.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irrigation recommendations based on predictions.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prediction results through charts or dashboards.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 farmers in making informed irrigation decisions.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water efficiency and support sustainable agriculture.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AAC7633D-CEA8-E48A-604A-711B71E5631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0202" y="195706"/>
            <a:ext cx="698500" cy="8858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784F4A-820F-4548-7E42-FA2117F92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377" y="1450128"/>
            <a:ext cx="5499623" cy="4493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621E-09CE-EC0A-4FC7-50C794BDA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2047" y="304800"/>
            <a:ext cx="4000500" cy="885825"/>
          </a:xfrm>
        </p:spPr>
        <p:txBody>
          <a:bodyPr/>
          <a:lstStyle/>
          <a:p>
            <a:r>
              <a:rPr lang="en-US" sz="4000" dirty="0"/>
              <a:t>Dataset &amp; Output</a:t>
            </a:r>
            <a:endParaRPr lang="en-IN" sz="4000" dirty="0"/>
          </a:p>
        </p:txBody>
      </p:sp>
      <p:pic>
        <p:nvPicPr>
          <p:cNvPr id="27" name="object 6">
            <a:extLst>
              <a:ext uri="{FF2B5EF4-FFF2-40B4-BE49-F238E27FC236}">
                <a16:creationId xmlns:a16="http://schemas.microsoft.com/office/drawing/2014/main" id="{3DC30671-978D-16FC-FAB0-2A82F65591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278" y="144018"/>
            <a:ext cx="919149" cy="914400"/>
          </a:xfrm>
          <a:prstGeom prst="rect">
            <a:avLst/>
          </a:prstGeom>
        </p:spPr>
      </p:pic>
      <p:pic>
        <p:nvPicPr>
          <p:cNvPr id="29" name="object 3">
            <a:extLst>
              <a:ext uri="{FF2B5EF4-FFF2-40B4-BE49-F238E27FC236}">
                <a16:creationId xmlns:a16="http://schemas.microsoft.com/office/drawing/2014/main" id="{A21946D8-8990-D3C3-33EB-621CD31BEC1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9833" y="463295"/>
            <a:ext cx="700671" cy="885825"/>
          </a:xfrm>
          <a:prstGeom prst="rect">
            <a:avLst/>
          </a:prstGeom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0F7B365-C653-4245-FDE3-3345BFB20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939403"/>
              </p:ext>
            </p:extLst>
          </p:nvPr>
        </p:nvGraphicFramePr>
        <p:xfrm>
          <a:off x="620714" y="1600200"/>
          <a:ext cx="11037887" cy="45719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6841">
                  <a:extLst>
                    <a:ext uri="{9D8B030D-6E8A-4147-A177-3AD203B41FA5}">
                      <a16:colId xmlns:a16="http://schemas.microsoft.com/office/drawing/2014/main" val="580041938"/>
                    </a:ext>
                  </a:extLst>
                </a:gridCol>
                <a:gridCol w="1576841">
                  <a:extLst>
                    <a:ext uri="{9D8B030D-6E8A-4147-A177-3AD203B41FA5}">
                      <a16:colId xmlns:a16="http://schemas.microsoft.com/office/drawing/2014/main" val="2888393026"/>
                    </a:ext>
                  </a:extLst>
                </a:gridCol>
                <a:gridCol w="1576841">
                  <a:extLst>
                    <a:ext uri="{9D8B030D-6E8A-4147-A177-3AD203B41FA5}">
                      <a16:colId xmlns:a16="http://schemas.microsoft.com/office/drawing/2014/main" val="641168875"/>
                    </a:ext>
                  </a:extLst>
                </a:gridCol>
                <a:gridCol w="1576841">
                  <a:extLst>
                    <a:ext uri="{9D8B030D-6E8A-4147-A177-3AD203B41FA5}">
                      <a16:colId xmlns:a16="http://schemas.microsoft.com/office/drawing/2014/main" val="2423990105"/>
                    </a:ext>
                  </a:extLst>
                </a:gridCol>
                <a:gridCol w="1576841">
                  <a:extLst>
                    <a:ext uri="{9D8B030D-6E8A-4147-A177-3AD203B41FA5}">
                      <a16:colId xmlns:a16="http://schemas.microsoft.com/office/drawing/2014/main" val="1978568422"/>
                    </a:ext>
                  </a:extLst>
                </a:gridCol>
                <a:gridCol w="1576841">
                  <a:extLst>
                    <a:ext uri="{9D8B030D-6E8A-4147-A177-3AD203B41FA5}">
                      <a16:colId xmlns:a16="http://schemas.microsoft.com/office/drawing/2014/main" val="2767929166"/>
                    </a:ext>
                  </a:extLst>
                </a:gridCol>
                <a:gridCol w="1576841">
                  <a:extLst>
                    <a:ext uri="{9D8B030D-6E8A-4147-A177-3AD203B41FA5}">
                      <a16:colId xmlns:a16="http://schemas.microsoft.com/office/drawing/2014/main" val="2161822104"/>
                    </a:ext>
                  </a:extLst>
                </a:gridCol>
              </a:tblGrid>
              <a:tr h="6020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Soil Moisture (%)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Temperature (°C)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Humidity (%)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Rainfall (mm)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Soil Type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Crop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Irrigation Required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80544"/>
                  </a:ext>
                </a:extLst>
              </a:tr>
              <a:tr h="396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22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35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48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Loamy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Rice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Yes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9048771"/>
                  </a:ext>
                </a:extLst>
              </a:tr>
              <a:tr h="396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65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28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70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12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Clay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Wheat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No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8329476"/>
                  </a:ext>
                </a:extLst>
              </a:tr>
              <a:tr h="396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30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33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55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Sandy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Maize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Yes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9237920"/>
                  </a:ext>
                </a:extLst>
              </a:tr>
              <a:tr h="396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80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26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82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18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Clay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Rice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No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5009223"/>
                  </a:ext>
                </a:extLst>
              </a:tr>
              <a:tr h="396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25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36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44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Sandy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Cotton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Yes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9336411"/>
                  </a:ext>
                </a:extLst>
              </a:tr>
              <a:tr h="396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72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29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65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Loamy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Wheat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No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9559263"/>
                  </a:ext>
                </a:extLst>
              </a:tr>
              <a:tr h="396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40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31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58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Loamy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Maize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Yes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8409928"/>
                  </a:ext>
                </a:extLst>
              </a:tr>
              <a:tr h="396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90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24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88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25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Clay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Rice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No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2924869"/>
                  </a:ext>
                </a:extLst>
              </a:tr>
              <a:tr h="396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18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38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42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Sandy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Sugarcane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Yes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568908"/>
                  </a:ext>
                </a:extLst>
              </a:tr>
              <a:tr h="396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68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27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72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15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Loamy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 dirty="0">
                          <a:effectLst/>
                        </a:rPr>
                        <a:t>Cotton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 dirty="0">
                          <a:effectLst/>
                        </a:rPr>
                        <a:t>No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4330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072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04800"/>
            <a:ext cx="919162" cy="914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9438" y="204787"/>
            <a:ext cx="698500" cy="8858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20437" y="457200"/>
            <a:ext cx="235112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992981" y="1752600"/>
            <a:ext cx="9672638" cy="4574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Machine Learning-based Smart Irrigation System provides an intelligent approach to irrigation planning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weather and soil data.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predictive model helps determine whether irrigation is required, improving the accuracy of irrigation decisions.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reduce unnecessary water consumption, improve crop productivity, and support efficient resource management.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data-driven analysis, the project promotes sustainable and precision agriculture practices.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can be further enhanced with IoT devices, real-time weather data, and mobile applications for practical field deployment.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pen writing thank you on a piece of paper with the word written underneath it">
            <a:extLst>
              <a:ext uri="{FF2B5EF4-FFF2-40B4-BE49-F238E27FC236}">
                <a16:creationId xmlns:a16="http://schemas.microsoft.com/office/drawing/2014/main" id="{111503C2-7DC7-90E0-FD41-4E269FD8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121158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E94D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Words>696</Words>
  <Application>Microsoft Office PowerPoint</Application>
  <PresentationFormat>Widescreen</PresentationFormat>
  <Paragraphs>145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Tahoma</vt:lpstr>
      <vt:lpstr>Times New Roman</vt:lpstr>
      <vt:lpstr>Wingdings</vt:lpstr>
      <vt:lpstr>Office Theme</vt:lpstr>
      <vt:lpstr>Machine Learning-Based Smart Irrigation Control Using Weather and Soil Analytics</vt:lpstr>
      <vt:lpstr>Introduction</vt:lpstr>
      <vt:lpstr>Problem Statement</vt:lpstr>
      <vt:lpstr>Objectives &amp; Scope</vt:lpstr>
      <vt:lpstr>Methodology</vt:lpstr>
      <vt:lpstr>Module 1: Data Collection and Preprocessing</vt:lpstr>
      <vt:lpstr>Module 2: Machine Learning Model Development</vt:lpstr>
      <vt:lpstr>Module 3: Irrigation Prediction and Decision Support</vt:lpstr>
      <vt:lpstr>Dataset &amp; Output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theshon2007@outlook.com</dc:creator>
  <cp:lastModifiedBy>Venkatesh Reddy</cp:lastModifiedBy>
  <cp:revision>6</cp:revision>
  <dcterms:created xsi:type="dcterms:W3CDTF">2025-12-16T06:59:28Z</dcterms:created>
  <dcterms:modified xsi:type="dcterms:W3CDTF">2026-07-31T07:14:47Z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2025-12-11T00:00:00Z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2025-12-16T00:00:00Z</vt:filetime>
  </property>
  <property fmtid="{D5CDD505-2E9C-101B-9397-08002B2CF9AE}" pid="5" name="Producer">
    <vt:lpwstr>Microsoft® PowerPoint® 2024</vt:lpwstr>
  </property>
</Properties>
</file>